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직 곽" userId="ef1391ee843985d1" providerId="LiveId" clId="{9D14E34B-CB85-48B5-8CDE-921C14AEA7ED}"/>
    <pc:docChg chg="undo custSel modSld">
      <pc:chgData name="윤직 곽" userId="ef1391ee843985d1" providerId="LiveId" clId="{9D14E34B-CB85-48B5-8CDE-921C14AEA7ED}" dt="2026-09-18T23:20:13.369" v="1" actId="1076"/>
      <pc:docMkLst>
        <pc:docMk/>
      </pc:docMkLst>
      <pc:sldChg chg="modSp mod">
        <pc:chgData name="윤직 곽" userId="ef1391ee843985d1" providerId="LiveId" clId="{9D14E34B-CB85-48B5-8CDE-921C14AEA7ED}" dt="2026-09-18T23:20:13.369" v="1" actId="1076"/>
        <pc:sldMkLst>
          <pc:docMk/>
          <pc:sldMk cId="0" sldId="269"/>
        </pc:sldMkLst>
        <pc:spChg chg="mod">
          <ac:chgData name="윤직 곽" userId="ef1391ee843985d1" providerId="LiveId" clId="{9D14E34B-CB85-48B5-8CDE-921C14AEA7ED}" dt="2026-09-18T23:20:13.369" v="1" actId="1076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38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2.27:300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2.27:300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15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UNIVERSITY STARTUP PITCH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전공한시간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전공 밖의 배움, 내 시간 안에서.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4251960"/>
            <a:ext cx="27432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대학생 전공지식 매칭 플랫폼  ·  전공 밖의 배움을, 내 시간 안에서 조율하다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66960" y="5120640"/>
            <a:ext cx="1737360" cy="173736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6F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1320" y="5715000"/>
            <a:ext cx="548640" cy="548640"/>
          </a:xfrm>
          <a:prstGeom prst="ellipse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402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이해를 돕기 위한 가상 페르소나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문과생 A군은 공과대로 전과했습니다.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전공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문과 계열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전공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공과 계열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상황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전과 후 기초 지식 공백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역량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데이터 처리 기초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“전체 강의를 다시 들을 필요까지는 없다.”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14141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40680" y="19659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“전과했더니 수업에서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모르는 용어가 너무 많습니다.”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74182" y="3429000"/>
            <a:ext cx="1305763" cy="4572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4182" y="3429000"/>
            <a:ext cx="1305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기초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07962" y="3429000"/>
            <a:ext cx="1305763" cy="4572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07962" y="3429000"/>
            <a:ext cx="1305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처리 기초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41741" y="3429000"/>
            <a:ext cx="1239926" cy="4572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1741" y="3429000"/>
            <a:ext cx="12399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개념 이해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09683" y="3429000"/>
            <a:ext cx="1239926" cy="45720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09683" y="3429000"/>
            <a:ext cx="12399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과제 수행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4114800"/>
            <a:ext cx="1947672" cy="1005840"/>
          </a:xfrm>
          <a:prstGeom prst="roundRect">
            <a:avLst>
              <a:gd name="adj" fmla="val 727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84648" y="42062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 수업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184648" y="448056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정해진 수업을 따라가야 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23176" y="4114800"/>
            <a:ext cx="1947672" cy="1005840"/>
          </a:xfrm>
          <a:prstGeom prst="roundRect">
            <a:avLst>
              <a:gd name="adj" fmla="val 727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32904" y="42062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온라인 강의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232904" y="448056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많은 내용을 학습해야 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71432" y="4114800"/>
            <a:ext cx="1947672" cy="1005840"/>
          </a:xfrm>
          <a:prstGeom prst="roundRect">
            <a:avLst>
              <a:gd name="adj" fmla="val 727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81160" y="42062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학원 · 과외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448056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부분만 배우기엔 비용·방식 부담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5394960"/>
            <a:ext cx="10469880" cy="1051560"/>
          </a:xfrm>
          <a:prstGeom prst="roundRect">
            <a:avLst>
              <a:gd name="adj" fmla="val 8696"/>
            </a:avLst>
          </a:prstGeom>
          <a:solidFill>
            <a:srgbClr val="14141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51560" y="5394960"/>
            <a:ext cx="9646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딱 필요한 것만, </a:t>
            </a:r>
            <a:r>
              <a:rPr lang="en-US" sz="24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배울 수는 없을까?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대학생에게는 ‘전공 밖의 배움’이 필요한 순간이 있습니다.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전과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기초부터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배우고 싶어요.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9659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2240280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복수전공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0632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본전공 외의 지식이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19659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0216" y="2240280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0216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30632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과제에 필요한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부분만 배우고 싶어요.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87384" y="19659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15984" y="2240280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15984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진로 탐색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015984" y="30632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전공을 먼저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경험해보고 싶어요.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469880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709160"/>
            <a:ext cx="9646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대학생에게는 ‘정규 수업 전체’가 아니라
</a:t>
            </a:r>
            <a:r>
              <a:rPr lang="en-US" sz="24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‘필요한 지식의 일부’</a:t>
            </a:r>
            <a:r>
              <a:rPr lang="en-US" sz="21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 필요한 순간이 있습니다.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지금의 선택지는 A군의 상황에 딱 맞지 않습니다.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2880360"/>
          </a:xfrm>
          <a:prstGeom prst="roundRect">
            <a:avLst>
              <a:gd name="adj" fmla="val 3636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574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 수업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5176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 자격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시간표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정해진 커리큘럼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3749040"/>
            <a:ext cx="2112264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88620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필요한 부분만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배우기 어려움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874520"/>
            <a:ext cx="2514600" cy="2880360"/>
          </a:xfrm>
          <a:prstGeom prst="roundRect">
            <a:avLst>
              <a:gd name="adj" fmla="val 3636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7016" y="20574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온라인 강의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65176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정해진 콘텐츠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비대면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질문의 한계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57016" y="3749040"/>
            <a:ext cx="2112264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7016" y="388620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내 수준·상황에 맞춰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배우기 어려움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874520"/>
            <a:ext cx="2514600" cy="2880360"/>
          </a:xfrm>
          <a:prstGeom prst="roundRect">
            <a:avLst>
              <a:gd name="adj" fmla="val 3636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20574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과외 / 매칭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265176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학생-선생님 연결 가능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3749040"/>
            <a:ext cx="2112264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2784" y="388620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대학생 전공지식 교환에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특화된 구조는 아님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87384" y="1874520"/>
            <a:ext cx="2514600" cy="2880360"/>
          </a:xfrm>
          <a:prstGeom prst="roundRect">
            <a:avLst>
              <a:gd name="adj" fmla="val 3636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88552" y="20574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 커뮤니티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988552" y="265176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학교 학생과 연결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88552" y="3749040"/>
            <a:ext cx="2112264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88552" y="388620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교육 과정과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 구조가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469880" cy="1051560"/>
          </a:xfrm>
          <a:prstGeom prst="roundRect">
            <a:avLst>
              <a:gd name="adj" fmla="val 8696"/>
            </a:avLst>
          </a:prstGeom>
          <a:solidFill>
            <a:srgbClr val="1414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074920"/>
            <a:ext cx="9646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지식과 그것을 가진 사람은 있지만,
</a:t>
            </a:r>
            <a:r>
              <a:rPr lang="en-US" sz="18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둘을 연결하는 구조가 없습니다.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대학생은 이미 전공 밖의 배움에 시간과 비용을 쓰고 있습니다.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31.7%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4년제 대학생 중 복수전공을 하고 있다고 응답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840480"/>
            <a:ext cx="461772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9776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JobKorea·Albamon, 2021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 대상: 4년제 대학생 1,065명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전공한시간의 고객 비율이 아니라, 전공 외 학습 수요를 보여주는 참고 지표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97880" y="182880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9659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31.6%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관련 사교육을 받은 경험이 있다고 응답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JobKorea·Albamon, 2021 · 조사 대상: 3·4학년 및 졸업예정자 798명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521208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사교육 경험자 연평균 지출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218만원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관련 자격증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6132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37.6%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4425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561320" y="4425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30.6%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4736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컴퓨터 관련 학원/자격증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6132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28.9%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166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서로 다른 조사 대상·시점의 자료이며, 전공한시간의 실제 구매율을 의미하지 않음.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지식을 가진 대학생과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배우고 싶은 대학생을 연결합니다.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LEARNER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배우는 학생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배우고 싶은 주제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가능한 시간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지역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범위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3063240"/>
            <a:ext cx="2743200" cy="274320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전공한시간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21488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EDUCATOR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가르치는 학생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246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가르칠 수 있는 내용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가능한 시간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방식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3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희망 수업료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것을 필요한 만큼, 내 시간 안에서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정해진 수업을 단순히 구매하는 것이 아니라, 학습자와 교육자가 수업 조건을 직접 조율합니다.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수업을 고르는 것이 아니라, 수업을 서로 맞춥니다.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984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탐색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1168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622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8622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5646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전공·커리큘럼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806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60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0260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7284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 전달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4444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18988" y="2331720"/>
            <a:ext cx="512064" cy="512064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1898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8922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조율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6082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536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53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0560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확정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7720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174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517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198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오프라인 수업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93580" y="2587752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68128" y="2331720"/>
            <a:ext cx="512064" cy="51206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6812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9900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0" y="402336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0" y="40233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조율 항목:  커리큘럼 · 시간 · 장소 · 인원 · 가격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5257800"/>
            <a:ext cx="104698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51560" y="5257800"/>
            <a:ext cx="9646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가격만 조율하는 것이 아니라 </a:t>
            </a:r>
            <a:r>
              <a:rPr lang="en-US" sz="19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자체를 조율합니다.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A군에게 필요한 수업은 이렇게 만들어집니다.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최초 제안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95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데이터 처리 기초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60분 · 22,000원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06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0" y="196596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5968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A군의 요청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239572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“전체를 배우고 싶은 게 아니라,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과제에 필요한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필터링만 배우고 싶어요.”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95360" y="1965960"/>
            <a:ext cx="2971800" cy="1737360"/>
          </a:xfrm>
          <a:prstGeom prst="roundRect">
            <a:avLst>
              <a:gd name="adj" fmla="val 5263"/>
            </a:avLst>
          </a:prstGeom>
          <a:solidFill>
            <a:srgbClr val="FFFDF6"/>
          </a:solidFill>
          <a:ln w="19050">
            <a:solidFill>
              <a:srgbClr val="6E9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96528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수업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796528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 · 27,000원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 근처 · 1명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조율 내역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처리 기초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4297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불러오기 + 조건 필터링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817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60분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4681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4681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0657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50657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미정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703320" y="50657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5065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 근처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4498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5449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22,000원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03320" y="54498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5449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27,000원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03720" y="3977640"/>
            <a:ext cx="4663440" cy="1920240"/>
          </a:xfrm>
          <a:prstGeom prst="roundRect">
            <a:avLst>
              <a:gd name="adj" fmla="val 4762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수수료 구조 (교육자 15%)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 플랫폼 수수료  0원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27,000원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플랫폼 4,050원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35440" y="5349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교육자 22,950원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080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부분만 남겨 수업을 다시 설계합니다.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A군의 ‘이번 주 목요일’을 따라가 봅니다.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월요일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과제에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Python이 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5646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564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화요일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5646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2961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전공한시간에서 컴퓨터공학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교육자를 탐색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806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284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284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화요일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7284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599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“데이터 필터링을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배우고 싶어요.”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4444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8922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892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화요일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8922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6237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 19:00 · 학교 근처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 · 1명 · 27,000원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6082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560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560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화요일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0560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7875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확정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7720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198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C6FF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198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목요일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198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513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오프라인 수업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93580" y="2478024"/>
            <a:ext cx="144780" cy="0"/>
          </a:xfrm>
          <a:prstGeom prst="line">
            <a:avLst/>
          </a:prstGeom>
          <a:noFill/>
          <a:ln w="19050">
            <a:solidFill>
              <a:srgbClr val="DDD6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22860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7383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금요일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738360" y="2834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11512" y="292608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후기 작성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507492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51560" y="5074920"/>
            <a:ext cx="964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과정을 실제 서비스 화면으로 구현했습니다.
</a:t>
            </a:r>
            <a:r>
              <a:rPr lang="en-US" sz="1300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3"/>
              </a:rPr>
              <a:t>잠시 후 라이브 데모에서 확인합니다 →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밖의 ‘짧은 배움’을 위한 빈틈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1783080"/>
            <a:ext cx="5669280" cy="3794760"/>
          </a:xfrm>
          <a:prstGeom prst="rect">
            <a:avLst/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3680460"/>
            <a:ext cx="5669280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1783080"/>
            <a:ext cx="0" cy="379476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490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맞춤형 학습 높음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56144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맞춤형 학습 낮음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4061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특화</a:t>
            </a:r>
            <a:endParaRPr lang="en-US" sz="105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34061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특화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60950" y="4423867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29430" y="413125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클래스101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4179" y="4955134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02659" y="466252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에브리타임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4650" y="2905963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23130" y="2613355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당근 과외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21578" y="2754173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90058" y="2461565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김과외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61197" y="2092147"/>
            <a:ext cx="292608" cy="29260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84541" y="240304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전공한시간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특화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286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대학생의 전공 지식·전공 입문 학습에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초점을 두는가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맞춤형 학습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학습자의 목표·시간·범위 등에 맞춰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수업을 조정할 수 있는 정도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617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포지셔닝은 공개된 서비스 특성을 기준으로 한 비교이며,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서비스 범위는 각 플랫폼의 운영 정책에 따라 달라질 수 있음.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6080760"/>
            <a:ext cx="1046988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608076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전공한시간은 콘텐츠 자체보다 </a:t>
            </a:r>
            <a:r>
              <a:rPr lang="en-US" sz="14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‘내 상황에 맞는 전공 학습 연결’</a:t>
            </a:r>
            <a:r>
              <a:rPr lang="en-US" sz="14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 집중합니다.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학습자는 부담을 낮추고, 수업이 성사될 때 수익이 발생합니다.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LEARNER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 수수료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99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0원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194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확정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589520" y="21945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DF6"/>
          </a:solidFill>
          <a:ln w="19050">
            <a:solidFill>
              <a:srgbClr val="6E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EDUCATOR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 수수료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999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수업료의 15%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27,000원 수업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 4,050원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교육자 정산 22,950원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4698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486400"/>
            <a:ext cx="9646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학습자가 진입하기 쉬운 구조를 만들고,
</a:t>
            </a:r>
            <a:r>
              <a:rPr lang="en-US" sz="1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거래가 발생했을 때 수익을 만듭니다.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&amp; SCALE-UP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작게 시작해, 실제 거래가 일어나는 구조부터 검증합니다.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· MVP 검증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58568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40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대학 + 인근 생활권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60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1~2개 전공/과목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81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 인터뷰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02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교육자 모집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941064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227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유료 수업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61688"/>
            <a:ext cx="292608" cy="29260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343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후기·데이터 확보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828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DEMAND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102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정말 배우고 싶은가?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4709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07208" y="4828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SUPPLY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07208" y="5102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가르치려는 대학생이 있는가?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4709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6"/>
          </a:solidFill>
          <a:ln w="12700">
            <a:solidFill>
              <a:srgbClr val="6E9B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4828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5102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돈을 내고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수업을 확정하는가?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080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후 확장:  검증된 과목 추가 → 다른 전공 → 인근 대학 → 대학 간 연결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49440" y="182880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414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011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SPACE PARTNERSHIP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39572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초기에는 공실을 직접 장기 임차하기보다, 이미 수업·모임 이용이 가능한 스터디룸·공유 공간의 비는 시간대를 확보합니다.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예약 수요 연결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 운영자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비는 시간의 이용률 향상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78040" y="4434840"/>
            <a:ext cx="41605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4572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 협의 필요: 가격 · 취소 정책 · 출입 방식 · 시설 이용 범위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5257800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1E1E1E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69480" y="52578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체결된 공간 제휴는 없음.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9B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ECOSYSTEM &amp;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학생이 가진 지식과 시간, 대학의 자원을 연결합니다.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커뮤니티 확장 로드맵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MVP에서는 이용자가 가능한 시간을 직접 입력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에브리타임 제휴 없음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시간표 접근 권한 없음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서비스 로그인 정보 요구하지 않음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224028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커뮤니티를 통한 모집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클래스 게시판 협의 (진행 예정)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5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허용된 방식의 시간표 연동 검토 (진행 예정)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956048"/>
            <a:ext cx="182880" cy="18288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193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기획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3756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4956048"/>
            <a:ext cx="182880" cy="18288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5193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UX/UI 디자인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956048"/>
            <a:ext cx="182880" cy="18288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193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3252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DF6"/>
          </a:solidFill>
          <a:ln w="12700">
            <a:solidFill>
              <a:srgbClr val="DDD6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4956048"/>
            <a:ext cx="182880" cy="18288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15400" y="5193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시장조사 · 비즈니스 모델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커뮤니티 모집 · 공식 클래스 게시판 협의 · 시간표 연동은 서로 다른 단계입니다.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15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DEMO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배움은 꼭 수업 시간표 안에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있을 필요가 없으니까.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4160520"/>
            <a:ext cx="27432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F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3"/>
              </a:rPr>
              <a:t>전공한시간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전공 밖의 배움, 내 시간 안에서.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홈 → 수업 탐색 → 클래스 상세 → 교육자 확인 → 채팅 → 목표 전달 → 조건 조율 → 수업 확정 → 내 수업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966960" y="914400"/>
            <a:ext cx="1463040" cy="146304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6FF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371600"/>
            <a:ext cx="548640" cy="5486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2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1101</Words>
  <Application>Microsoft Office PowerPoint</Application>
  <PresentationFormat>와이드스크린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윤직 곽</cp:lastModifiedBy>
  <cp:revision>2</cp:revision>
  <dcterms:created xsi:type="dcterms:W3CDTF">2026-09-18T18:32:40Z</dcterms:created>
  <dcterms:modified xsi:type="dcterms:W3CDTF">2026-09-19T00:00:27Z</dcterms:modified>
</cp:coreProperties>
</file>